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README.md (title, track, sponsor tech, development disclosures), task brief (entrant, repo placeholder). Repo URL is a placeholder: github.com/bradywatkinson/why-agent.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Framed qualitatively on purpose: no user counts or business-impact figures are claimed. Source for the problem framing: demo-script.md opening line ('Dashboards tell you what changed. This agent tells you why, and proves every sentence.') and 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README.md 'What it does' steps 1-7. Planner is deterministic and rule-based (no LLM).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README.md 'Example (real run against the local Zetaris platform, 2026-10-26 PT)' and screenshot 01-answer-live.png. Question: 'Why did average tips change between December 2024 and January 2025?' COUNT(*) over yellow_taxi = 38,667,711 rows (README 'Data used').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README.md steps 5-6 and Example excerpt; screenshots 03-decomposition.png and 01-answer-live.png (Manhattan $3.01 -&gt; $2.58, -$0.38; credit card $4.49 -&gt; $4.10, -$0.27 within; rate code mix -$0.20 = 39%).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README.md steps 4 and 6, 'In the UI' section; screenshot 02-citation-rows.png (Q1 evidence cube: 3949 rows in 65657 ms; Q2 is a client-side roll-up of Q1).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README.md 'Architecture' mermaid diagram and file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README.md Setup, Architecture file table, Development disclosures, License.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README.md 'How Zetaris is used', step 4, 'Data used' (COUNT(*) = 38,667,711 rows; months with substantial data 2024-04 to 2025-02), Performance; screenshot 06-zetaris-catalog.png.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README.md 'How Meterless is used' (H-MEM), step 7, Example (second identical run adds a memory claim); screenshot 04-memory-ledger.png.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README.md step 1 and 'How Meterless is used' (Scout guard stage); screenshot 05-injection-blocked.png. Eval: published v1/injection set, 10 examples (7 injection, 3 clean), precision 1.0, recall 1.0 - NOT held out (read while writing the guard). Runner reports intent/tool metrics as 0 and fails its overall gate because only the guard stage is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Limits source: README.md Limitations, Performance (observed on 8 cores / 16 GB, 2026-10-26), honest scope note, Scout eval note. Future work items are plans, not results. weather_data appears in the NY_TAXI catalogue screenshot (06-zetaris-catalog.png). Repo URL is a placeholder.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93FF"/>
          </a:solidFill>
          <a:ln w="12700">
            <a:solidFill>
              <a:srgbClr val="8B9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31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GENAI.WORKS OPEN AGENT HACKATHON 2026  ·  TRACK: THE AGENT THAT CAN EXPLAIN WHY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Agent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why a business metric changed. Get the drivers, summing exactly to the change, and a citation on every sentence back to the exact Zetaris query and rows. </a:t>
            </a:r>
            <a:r>
              <a:rPr lang="en-US" sz="1600" dirty="0">
                <a:solidFill>
                  <a:srgbClr val="C7CBFF"/>
                </a:solidFill>
                <a:highlight>
                  <a:srgbClr val="2B3170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C1 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617720"/>
            <a:ext cx="10515600" cy="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ENTRANT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51389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9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 Wat (solo)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91840" y="4846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SPONSOR TECH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51389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9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Zetaris  +  Meterless (H-MEM, Scout)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0" y="4846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0" y="51389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9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github.com/bradywatkinson/why-agent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without Cursor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PROBLEM &amp; USERS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Dashboards show what changed. Analysts must prove why.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Agent  ·  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 KPI moves, someone has to slice it by every dimension, check that the pieces add up, and defend the story.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Chat-over-data answers make this faster but harder to trust: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611880"/>
            <a:ext cx="54864" cy="6858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Numbers without provenance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9410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way to open the query and rows behind a sentence.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480560"/>
            <a:ext cx="54864" cy="6858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Drivers that overlap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7240" y="48097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trips counted twice through two dimensions.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5349240"/>
            <a:ext cx="54864" cy="6858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5349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memory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7240" y="56784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question starts cold; earlier findings are never cross-checked.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72200" y="1691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WHO IT IS FOR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72200" y="2103120"/>
            <a:ext cx="5468112" cy="1188720"/>
          </a:xfrm>
          <a:prstGeom prst="roundRect">
            <a:avLst>
              <a:gd name="adj" fmla="val 6154"/>
            </a:avLst>
          </a:prstGeom>
          <a:solidFill>
            <a:srgbClr val="161C30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22585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Business &amp; data analysts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400800" y="263347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the why behind a metric move, already decomposed into drivers that reconcile to the total.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172200" y="3474720"/>
            <a:ext cx="5468112" cy="1188720"/>
          </a:xfrm>
          <a:prstGeom prst="roundRect">
            <a:avLst>
              <a:gd name="adj" fmla="val 6154"/>
            </a:avLst>
          </a:prstGeom>
          <a:solidFill>
            <a:srgbClr val="161C30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0" y="3630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Analytics leads &amp; decision makers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400800" y="400507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on an answer that states its own checks, caveats and limits.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172200" y="4846320"/>
            <a:ext cx="5468112" cy="1188720"/>
          </a:xfrm>
          <a:prstGeom prst="roundRect">
            <a:avLst>
              <a:gd name="adj" fmla="val 6154"/>
            </a:avLst>
          </a:prstGeom>
          <a:solidFill>
            <a:srgbClr val="161C30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0" y="50017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Reviewers &amp; auditors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400800" y="537667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any number to the federated query and the rows it came from.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Ask why: guard, recall, scan once, explain, cite, remember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Agent  · 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1481328" cy="2971800"/>
          </a:xfrm>
          <a:prstGeom prst="roundRect">
            <a:avLst>
              <a:gd name="adj" fmla="val 4938"/>
            </a:avLst>
          </a:prstGeom>
          <a:solidFill>
            <a:srgbClr val="161C30"/>
          </a:solidFill>
          <a:ln w="12700">
            <a:solidFill>
              <a:srgbClr val="3B42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560320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Guard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2971800"/>
            <a:ext cx="1252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Meterless Scout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85800" y="3383280"/>
            <a:ext cx="12252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 the question for injection, exfiltration and destructive intent before any query.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039112" y="2761488"/>
            <a:ext cx="105156" cy="0"/>
          </a:xfrm>
          <a:prstGeom prst="line">
            <a:avLst/>
          </a:prstGeom>
          <a:noFill/>
          <a:ln w="19050">
            <a:solidFill>
              <a:srgbClr val="5C6683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153412" y="2011680"/>
            <a:ext cx="1481328" cy="2971800"/>
          </a:xfrm>
          <a:prstGeom prst="roundRect">
            <a:avLst>
              <a:gd name="adj" fmla="val 4938"/>
            </a:avLst>
          </a:prstGeom>
          <a:solidFill>
            <a:srgbClr val="161C30"/>
          </a:solidFill>
          <a:ln w="12700">
            <a:solidFill>
              <a:srgbClr val="3B42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90572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290572" y="2560320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Recall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290572" y="2971800"/>
            <a:ext cx="1252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Meterless H-MEM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290572" y="3383280"/>
            <a:ext cx="12252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recall of prior findings, schema and month coverage.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643884" y="2761488"/>
            <a:ext cx="105156" cy="0"/>
          </a:xfrm>
          <a:prstGeom prst="line">
            <a:avLst/>
          </a:prstGeom>
          <a:noFill/>
          <a:ln w="19050">
            <a:solidFill>
              <a:srgbClr val="5C6683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758184" y="2011680"/>
            <a:ext cx="1481328" cy="2971800"/>
          </a:xfrm>
          <a:prstGeom prst="roundRect">
            <a:avLst>
              <a:gd name="adj" fmla="val 4938"/>
            </a:avLst>
          </a:prstGeom>
          <a:solidFill>
            <a:srgbClr val="161C30"/>
          </a:solidFill>
          <a:ln w="12700">
            <a:solidFill>
              <a:srgbClr val="2E6B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95344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895344" y="2560320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Discover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895344" y="2971800"/>
            <a:ext cx="1252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Zetaris catalogue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895344" y="3383280"/>
            <a:ext cx="12252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LIGHTNING TABLES / DESCRIBE map the fact table and columns.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248656" y="2761488"/>
            <a:ext cx="105156" cy="0"/>
          </a:xfrm>
          <a:prstGeom prst="line">
            <a:avLst/>
          </a:prstGeom>
          <a:noFill/>
          <a:ln w="19050">
            <a:solidFill>
              <a:srgbClr val="5C6683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5362956" y="2011680"/>
            <a:ext cx="1481328" cy="2971800"/>
          </a:xfrm>
          <a:prstGeom prst="roundRect">
            <a:avLst>
              <a:gd name="adj" fmla="val 4938"/>
            </a:avLst>
          </a:prstGeom>
          <a:solidFill>
            <a:srgbClr val="161C30"/>
          </a:solidFill>
          <a:ln w="12700">
            <a:solidFill>
              <a:srgbClr val="2E6B6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00116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500116" y="2560320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Scan once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500116" y="2971800"/>
            <a:ext cx="1252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Zetaris join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500116" y="3383280"/>
            <a:ext cx="12252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query joins yellow_taxi and taxi_zones into an evidence cube.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853428" y="2761488"/>
            <a:ext cx="105156" cy="0"/>
          </a:xfrm>
          <a:prstGeom prst="line">
            <a:avLst/>
          </a:prstGeom>
          <a:noFill/>
          <a:ln w="19050">
            <a:solidFill>
              <a:srgbClr val="5C6683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6967728" y="2011680"/>
            <a:ext cx="1481328" cy="2971800"/>
          </a:xfrm>
          <a:prstGeom prst="roundRect">
            <a:avLst>
              <a:gd name="adj" fmla="val 4938"/>
            </a:avLst>
          </a:prstGeom>
          <a:solidFill>
            <a:srgbClr val="161C30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04888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F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104888" y="2560320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Explain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7104888" y="2971800"/>
            <a:ext cx="1252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F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Shift-share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104888" y="3383280"/>
            <a:ext cx="12252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the change into mix vs within-segment; every breakdown must reconcile.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8458200" y="2761488"/>
            <a:ext cx="105156" cy="0"/>
          </a:xfrm>
          <a:prstGeom prst="line">
            <a:avLst/>
          </a:prstGeom>
          <a:noFill/>
          <a:ln w="19050">
            <a:solidFill>
              <a:srgbClr val="5C6683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8572500" y="2011680"/>
            <a:ext cx="1481328" cy="2971800"/>
          </a:xfrm>
          <a:prstGeom prst="roundRect">
            <a:avLst>
              <a:gd name="adj" fmla="val 4938"/>
            </a:avLst>
          </a:prstGeom>
          <a:solidFill>
            <a:srgbClr val="161C30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70966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F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8709660" y="2560320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Answer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8709660" y="2971800"/>
            <a:ext cx="1252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F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Cited claims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709660" y="3383280"/>
            <a:ext cx="12252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Typed claims, each citing query rows, a memory or a named reference.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10062972" y="2761488"/>
            <a:ext cx="105156" cy="0"/>
          </a:xfrm>
          <a:prstGeom prst="line">
            <a:avLst/>
          </a:prstGeom>
          <a:noFill/>
          <a:ln w="19050">
            <a:solidFill>
              <a:srgbClr val="5C6683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10177272" y="2011680"/>
            <a:ext cx="1481328" cy="2971800"/>
          </a:xfrm>
          <a:prstGeom prst="roundRect">
            <a:avLst>
              <a:gd name="adj" fmla="val 4938"/>
            </a:avLst>
          </a:prstGeom>
          <a:solidFill>
            <a:srgbClr val="161C30"/>
          </a:solidFill>
          <a:ln w="12700">
            <a:solidFill>
              <a:srgbClr val="3B429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314432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10314432" y="2560320"/>
            <a:ext cx="1252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Remember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10314432" y="2971800"/>
            <a:ext cx="1252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Meterless H-MEM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10314432" y="3383280"/>
            <a:ext cx="12252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the finding with provenance; supersede the old one; take feedback.</a:t>
            </a:r>
            <a:endParaRPr lang="en-US" sz="1250" dirty="0"/>
          </a:p>
        </p:txBody>
      </p:sp>
      <p:sp>
        <p:nvSpPr>
          <p:cNvPr id="47" name="Text 44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planner, no LLM: </a:t>
            </a:r>
            <a:r>
              <a:rPr lang="en-US" sz="1500" dirty="0">
                <a:solidFill>
                  <a:srgbClr val="9AA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number is computed from rows Zetaris returns, and every sentence is a template filled from those rows. Each run leaves a full audit record.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8778240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■ </a:t>
            </a:r>
            <a:r>
              <a:rPr lang="en-US" sz="100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Zetaris   </a:t>
            </a:r>
            <a:r>
              <a:rPr lang="en-US" sz="1000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■ </a:t>
            </a:r>
            <a:r>
              <a:rPr lang="en-US" sz="100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Meterless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 · THE ANSWER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real question, answered live over 38.7M federated rows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Agent  ·  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AA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“Why did average tips change between December 2024 and January 2025?”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4688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$3.46 → $2.96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548640" y="3291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−$0.50  ·  −14.5%</a:t>
            </a:r>
            <a:r>
              <a:rPr lang="en-US" sz="1700" dirty="0">
                <a:solidFill>
                  <a:srgbClr val="9AA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avg tip per trip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931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93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280160" y="39319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claims, every one cited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459028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93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1280160" y="459028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breakdowns reconcile exactly to −$0.50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524865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93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280160" y="524865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federated Zetaris scan for all of it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5943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10,982,621 vs 10,408,144 valid trips measured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148072" y="1673352"/>
            <a:ext cx="6510528" cy="3678174"/>
          </a:xfrm>
          <a:prstGeom prst="rect">
            <a:avLst/>
          </a:prstGeom>
          <a:solidFill>
            <a:srgbClr val="2A3352"/>
          </a:solidFill>
          <a:ln w="6350">
            <a:solidFill>
              <a:srgbClr val="2A3352"/>
            </a:solidFill>
            <a:prstDash val="solid"/>
          </a:ln>
        </p:spPr>
      </p:sp>
      <p:pic>
        <p:nvPicPr>
          <p:cNvPr id="17" name="Image 0" descr="/workspace/openagent/media/01-answer-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691640"/>
            <a:ext cx="6473952" cy="364159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66360" y="5442966"/>
            <a:ext cx="6473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UI: answer with [C#] citations (left), streaming audit log (right), LIVE · zetaris badge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 · THE EXPLANATION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Drivers add up exactly, and nothing is counted twice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Agent  · 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30352" y="1673352"/>
            <a:ext cx="6163056" cy="4107327"/>
          </a:xfrm>
          <a:prstGeom prst="rect">
            <a:avLst/>
          </a:prstGeom>
          <a:solidFill>
            <a:srgbClr val="2A3352"/>
          </a:solidFill>
          <a:ln w="6350">
            <a:solidFill>
              <a:srgbClr val="2A3352"/>
            </a:solidFill>
            <a:prstDash val="solid"/>
          </a:ln>
        </p:spPr>
      </p:sp>
      <p:pic>
        <p:nvPicPr>
          <p:cNvPr id="7" name="Image 0" descr="/workspace/slides/why-agent-deck/c03_deco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126480" cy="40707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872119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 vs within-segment table per breakdown, with a ✓ reconciles check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995160" y="1691640"/>
            <a:ext cx="54864" cy="1261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223760" y="169164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Shift-share identity is exact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223760" y="2075688"/>
            <a:ext cx="4416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segment's mix + within contributions sum to the headline −$0.50. A breakdown that doesn't reproduce the headline is excluded, and the answer says so.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995160" y="3172968"/>
            <a:ext cx="54864" cy="1261872"/>
          </a:xfrm>
          <a:prstGeom prst="rect">
            <a:avLst/>
          </a:prstGeom>
          <a:solidFill>
            <a:srgbClr val="8B93FF"/>
          </a:solidFill>
          <a:ln w="12700">
            <a:solidFill>
              <a:srgbClr val="8B93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223760" y="3172968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Mostly within segments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223760" y="3557016"/>
            <a:ext cx="4416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rate code, mix explains only −$0.20 (39%). Manhattan trips: $3.01 → $2.58 (−$0.38). Card-paid: $4.49 → $4.10 (−$0.27).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995160" y="4654296"/>
            <a:ext cx="54864" cy="12618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223760" y="4654296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Double count caught and merged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223760" y="5038344"/>
            <a:ext cx="4416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rate code grew 8.9% → 15.6% of trips. The same 978,903 → 1,621,071 trips are payment “Code 0”, so the agent reports one driver, not two.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223760" y="603504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Descriptive decomposition, not causal; the answer says so.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 · THE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claim opens the exact query and rows behind 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Agent  · 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30352" y="1719072"/>
            <a:ext cx="5963488" cy="2551176"/>
          </a:xfrm>
          <a:prstGeom prst="rect">
            <a:avLst/>
          </a:prstGeom>
          <a:solidFill>
            <a:srgbClr val="2A3352"/>
          </a:solidFill>
          <a:ln w="6350">
            <a:solidFill>
              <a:srgbClr val="2A3352"/>
            </a:solidFill>
            <a:prstDash val="solid"/>
          </a:ln>
        </p:spPr>
      </p:sp>
      <p:pic>
        <p:nvPicPr>
          <p:cNvPr id="7" name="Image 0" descr="/workspace/slides/why-agent-deck/c02_clai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926912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960184" y="1719072"/>
            <a:ext cx="4628236" cy="2551176"/>
          </a:xfrm>
          <a:prstGeom prst="rect">
            <a:avLst/>
          </a:prstGeom>
          <a:solidFill>
            <a:srgbClr val="2A3352"/>
          </a:solidFill>
          <a:ln w="6350">
            <a:solidFill>
              <a:srgbClr val="2A3352"/>
            </a:solidFill>
            <a:prstDash val="solid"/>
          </a:ln>
        </p:spPr>
      </p:sp>
      <p:pic>
        <p:nvPicPr>
          <p:cNvPr id="9" name="Image 1" descr="/workspace/slides/why-agent-deck/c02_evid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472" y="1737360"/>
            <a:ext cx="4591660" cy="25146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548704" y="2994660"/>
            <a:ext cx="365760" cy="0"/>
          </a:xfrm>
          <a:prstGeom prst="line">
            <a:avLst/>
          </a:prstGeom>
          <a:noFill/>
          <a:ln w="19050">
            <a:solidFill>
              <a:srgbClr val="8B93FF"/>
            </a:solidFill>
            <a:prstDash val="solid"/>
            <a:tailEnd type="triangle"/>
          </a:ln>
        </p:spPr>
      </p:sp>
      <p:sp>
        <p:nvSpPr>
          <p:cNvPr id="11" name="Text 6"/>
          <p:cNvSpPr/>
          <p:nvPr/>
        </p:nvSpPr>
        <p:spPr>
          <a:xfrm>
            <a:off x="548640" y="4343400"/>
            <a:ext cx="5926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Claims, typed finding / caveat / memory, each with citation chips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978472" y="4343400"/>
            <a:ext cx="459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Chip opens Q2 with the cited rows highlighted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48640" y="4754880"/>
            <a:ext cx="3514344" cy="0"/>
          </a:xfrm>
          <a:prstGeom prst="line">
            <a:avLst/>
          </a:prstGeom>
          <a:noFill/>
          <a:ln w="19050">
            <a:solidFill>
              <a:srgbClr val="8B93F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48640" y="4892040"/>
            <a:ext cx="3514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Claim → query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548640" y="5285232"/>
            <a:ext cx="3514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[C#] or a chip: the query panel opens with the exact rows highlighted.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337304" y="4754880"/>
            <a:ext cx="3514344" cy="0"/>
          </a:xfrm>
          <a:prstGeom prst="line">
            <a:avLst/>
          </a:prstGeom>
          <a:noFill/>
          <a:ln w="19050">
            <a:solidFill>
              <a:srgbClr val="8B93F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337304" y="4892040"/>
            <a:ext cx="3514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Roll-up → cube cells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337304" y="5285232"/>
            <a:ext cx="3514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Q2…Q7 are client-side roll-ups of one Zetaris scan (Q1). “n cell(s)” opens the raw cells summed.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125968" y="4754880"/>
            <a:ext cx="3514344" cy="0"/>
          </a:xfrm>
          <a:prstGeom prst="line">
            <a:avLst/>
          </a:prstGeom>
          <a:noFill/>
          <a:ln w="19050">
            <a:solidFill>
              <a:srgbClr val="8B93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125968" y="4892040"/>
            <a:ext cx="3514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 → audit JSON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125968" y="5285232"/>
            <a:ext cx="3514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Plan, SQL, timings, rows, guard verdicts and memory reads/writes in one download.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deterministic planner between guard, memory and Zetaris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Agent  ·  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161C30"/>
          </a:solidFill>
          <a:ln w="15875">
            <a:solidFill>
              <a:srgbClr val="3A446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210312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Web UI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242316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public/index.html · SSE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161C30"/>
          </a:solidFill>
          <a:ln w="15875">
            <a:solidFill>
              <a:srgbClr val="3A44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329184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server.ts / cli.ts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361188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ask · guarded sql · audit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554480" y="2880360"/>
            <a:ext cx="0" cy="320040"/>
          </a:xfrm>
          <a:prstGeom prst="line">
            <a:avLst/>
          </a:prstGeom>
          <a:noFill/>
          <a:ln w="19050">
            <a:solidFill>
              <a:srgbClr val="5C6683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06324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C2440"/>
          </a:solidFill>
          <a:ln w="15875">
            <a:solidFill>
              <a:srgbClr val="C9CF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2968" y="301752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investigate.ts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172968" y="3337560"/>
            <a:ext cx="2295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deterministic planner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shift-share decomposition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claim + citation builder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560320" y="3630168"/>
            <a:ext cx="502920" cy="0"/>
          </a:xfrm>
          <a:prstGeom prst="line">
            <a:avLst/>
          </a:prstGeom>
          <a:noFill/>
          <a:ln w="19050">
            <a:solidFill>
              <a:srgbClr val="5C6683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063240" y="16002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161C30"/>
          </a:solidFill>
          <a:ln w="15875">
            <a:solidFill>
              <a:srgbClr val="5A61C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72968" y="169164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guard.ts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172968" y="201168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Scout guard: question, SQL, rows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 flipV="1">
            <a:off x="4315968" y="2514600"/>
            <a:ext cx="0" cy="411480"/>
          </a:xfrm>
          <a:prstGeom prst="line">
            <a:avLst/>
          </a:prstGeom>
          <a:noFill/>
          <a:ln w="19050">
            <a:solidFill>
              <a:srgbClr val="5C6683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48640" y="47091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61C30"/>
          </a:solidFill>
          <a:ln w="15875">
            <a:solidFill>
              <a:srgbClr val="3A446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480060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Parser &amp; schema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58368" y="512064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question.ts · schema.ts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metric · periods · columns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 flipH="1">
            <a:off x="2560320" y="4206240"/>
            <a:ext cx="502920" cy="822960"/>
          </a:xfrm>
          <a:prstGeom prst="line">
            <a:avLst/>
          </a:prstGeom>
          <a:noFill/>
          <a:ln w="19050">
            <a:solidFill>
              <a:srgbClr val="5C6683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3063240" y="48006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161C30"/>
          </a:solidFill>
          <a:ln w="15875">
            <a:solidFill>
              <a:srgbClr val="5A61C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72968" y="4892040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memory.ts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3172968" y="521208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Meterless H-MEM + TrustLedger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315968" y="4343400"/>
            <a:ext cx="0" cy="457200"/>
          </a:xfrm>
          <a:prstGeom prst="line">
            <a:avLst/>
          </a:prstGeom>
          <a:noFill/>
          <a:ln w="19050">
            <a:solidFill>
              <a:srgbClr val="5C6683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6080760" y="48006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61C30"/>
          </a:solidFill>
          <a:ln w="15875">
            <a:solidFill>
              <a:srgbClr val="5A61C9"/>
            </a:solidFill>
            <a:prstDash val="dash"/>
          </a:ln>
        </p:spPr>
      </p:sp>
      <p:sp>
        <p:nvSpPr>
          <p:cNvPr id="30" name="Text 27"/>
          <p:cNvSpPr/>
          <p:nvPr/>
        </p:nvSpPr>
        <p:spPr>
          <a:xfrm>
            <a:off x="6190488" y="489204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.memory/zetaris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190488" y="521208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state.json + ledger.jsonl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577840" y="5257800"/>
            <a:ext cx="502920" cy="0"/>
          </a:xfrm>
          <a:prstGeom prst="line">
            <a:avLst/>
          </a:prstGeom>
          <a:noFill/>
          <a:ln w="19050">
            <a:solidFill>
              <a:srgbClr val="5C6683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6080760" y="16002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61C30"/>
          </a:solidFill>
          <a:ln w="15875">
            <a:solidFill>
              <a:srgbClr val="3A4466"/>
            </a:solidFill>
            <a:prstDash val="dash"/>
          </a:ln>
        </p:spPr>
      </p:sp>
      <p:sp>
        <p:nvSpPr>
          <p:cNvPr id="34" name="Text 31"/>
          <p:cNvSpPr/>
          <p:nvPr/>
        </p:nvSpPr>
        <p:spPr>
          <a:xfrm>
            <a:off x="6190488" y="169164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.runs/*.json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190488" y="201168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 audit record per run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 flipV="1">
            <a:off x="5577840" y="2514600"/>
            <a:ext cx="822960" cy="640080"/>
          </a:xfrm>
          <a:prstGeom prst="line">
            <a:avLst/>
          </a:prstGeom>
          <a:noFill/>
          <a:ln w="19050">
            <a:solidFill>
              <a:srgbClr val="5C6683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6080760" y="301752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161C30"/>
          </a:solidFill>
          <a:ln w="15875">
            <a:solidFill>
              <a:srgbClr val="2E8C8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190488" y="310896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SqlAdapter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190488" y="342900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live: ZetarisAdapter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 /api/proxy/sql-editor/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sqls/run-query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577840" y="3611880"/>
            <a:ext cx="502920" cy="0"/>
          </a:xfrm>
          <a:prstGeom prst="line">
            <a:avLst/>
          </a:prstGeom>
          <a:noFill/>
          <a:ln w="19050">
            <a:solidFill>
              <a:srgbClr val="5C6683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8961120" y="2011680"/>
            <a:ext cx="2679192" cy="1051560"/>
          </a:xfrm>
          <a:prstGeom prst="roundRect">
            <a:avLst>
              <a:gd name="adj" fmla="val 6957"/>
            </a:avLst>
          </a:prstGeom>
          <a:solidFill>
            <a:srgbClr val="12302E"/>
          </a:solidFill>
          <a:ln w="15875">
            <a:solidFill>
              <a:srgbClr val="2E8C8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070848" y="2103120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Zetaris Lightning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9070848" y="2423160"/>
            <a:ext cx="2459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 Docker platform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Spark SQL · catalogue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 flipV="1">
            <a:off x="8458200" y="2743200"/>
            <a:ext cx="502920" cy="54864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8961120" y="3429000"/>
            <a:ext cx="2679192" cy="1051560"/>
          </a:xfrm>
          <a:prstGeom prst="roundRect">
            <a:avLst>
              <a:gd name="adj" fmla="val 6957"/>
            </a:avLst>
          </a:prstGeom>
          <a:solidFill>
            <a:srgbClr val="161C30"/>
          </a:solidFill>
          <a:ln w="15875">
            <a:solidFill>
              <a:srgbClr val="2E8C8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070848" y="3520440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NY_TAXI on public S3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9070848" y="3840480"/>
            <a:ext cx="2459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yellow_taxi ⋈ taxi_zones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(CSV, joined inside Zetaris)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10296144" y="3063240"/>
            <a:ext cx="0" cy="36576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8961120" y="4800600"/>
            <a:ext cx="2679192" cy="914400"/>
          </a:xfrm>
          <a:prstGeom prst="roundRect">
            <a:avLst>
              <a:gd name="adj" fmla="val 8000"/>
            </a:avLst>
          </a:prstGeom>
          <a:solidFill>
            <a:srgbClr val="161C30"/>
          </a:solidFill>
          <a:ln w="15875">
            <a:solidFill>
              <a:srgbClr val="3A4466"/>
            </a:solidFill>
            <a:prstDash val="dash"/>
          </a:ln>
        </p:spPr>
      </p:sp>
      <p:sp>
        <p:nvSpPr>
          <p:cNvPr id="50" name="Text 47"/>
          <p:cNvSpPr/>
          <p:nvPr/>
        </p:nvSpPr>
        <p:spPr>
          <a:xfrm>
            <a:off x="9070848" y="4892040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FixtureAdapter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9070848" y="5212080"/>
            <a:ext cx="2459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sql.js synthetic data · tests only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8458200" y="4023360"/>
            <a:ext cx="502920" cy="1005840"/>
          </a:xfrm>
          <a:prstGeom prst="line">
            <a:avLst/>
          </a:prstGeom>
          <a:noFill/>
          <a:ln w="19050">
            <a:solidFill>
              <a:srgbClr val="5C6683"/>
            </a:solidFill>
            <a:prstDash val="solid"/>
            <a:tailEnd type="triangle"/>
          </a:ln>
        </p:spPr>
      </p:sp>
      <p:sp>
        <p:nvSpPr>
          <p:cNvPr id="53" name="Text 50"/>
          <p:cNvSpPr/>
          <p:nvPr/>
        </p:nvSpPr>
        <p:spPr>
          <a:xfrm>
            <a:off x="6400800" y="598932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■ </a:t>
            </a:r>
            <a:r>
              <a:rPr lang="en-US" sz="100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Zetaris   </a:t>
            </a:r>
            <a:r>
              <a:rPr lang="en-US" sz="1000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■ </a:t>
            </a:r>
            <a:r>
              <a:rPr lang="en-US" sz="100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Meterless   </a:t>
            </a:r>
            <a:r>
              <a:rPr lang="en-US" sz="100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▭ dashed = storage / offline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 stack: TypeScript, Zetaris, Meterless H-MEM and Scout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Agent  ·  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7999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93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Runtime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9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TypeScript · Node 20+ (built on Node 22) · npm · tsx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2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93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Data / query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9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Zetaris Lightning (local Docker platform) · Spark SQL · REST run-query API · NY_TAXI CSV on public S3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2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93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Memory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9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Meterless H-MEM reference engine (vendored by npm run setup) · TrustLedger (append-only)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2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93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Safety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9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Scout-style guard (guard.ts) · scored with the official Meterless Scout eval runner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2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93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Interface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9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Single-page web UI over SSE (server.ts) · CLI (ask, guarded sql, audit) · downloadable audit JSON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2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93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Testing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9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Offline FixtureAdapter (sql.js, synthetic, labelled FIXTURE) · guard, parser, decomposition, e2e tests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20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12064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131A2C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5212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Development disclosures  </a:t>
            </a:r>
            <a:r>
              <a:rPr lang="en-US" sz="130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without Cursor. Pre-existing: the Meterless agentathon-starter template (Apache-2.0), the H-MEM reference engine (vendored at setup, not committed), and patterns from the Zetaris getting-started helper scripts, re-implemented. No LLM in the loop.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SPONSOR TECH · ZETARIS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Zetaris federates; one scan answers every breakdown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Agent  ·  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REST queries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/api/proxy/sql-editor/sqls/run-query with an API token minted inside our own instance; key lives only in .env.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78892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Self-discovering schema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1546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LIGHTNING TABLES and DESCRIBE DATASOURCE TABLE map pickup time, fare, tip, payment type, with a stated reason per mapping.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8862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Federated join in Zetaris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48640" y="42519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yellow_taxi (38,667,711 rows) ⋈ taxi_zones, both S3 CSV, cast and grouped in Spark SQL.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12302E"/>
          </a:solidFill>
          <a:ln w="12700">
            <a:solidFill>
              <a:srgbClr val="2E8C8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507492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What's unique  </a:t>
            </a:r>
            <a:r>
              <a:rPr lang="en-US" sz="1250" dirty="0">
                <a:solidFill>
                  <a:srgbClr val="E6E9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query builds an evidence cube (period × validity × payment × rate code × borough × distance × time of day). The headline and every breakdown are roll-ups of it, each row linked back to the cube cells it summed.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62472" y="1719072"/>
            <a:ext cx="5596128" cy="3163824"/>
          </a:xfrm>
          <a:prstGeom prst="rect">
            <a:avLst/>
          </a:prstGeom>
          <a:solidFill>
            <a:srgbClr val="2A3352"/>
          </a:solidFill>
          <a:ln w="6350">
            <a:solidFill>
              <a:srgbClr val="2A3352"/>
            </a:solidFill>
            <a:prstDash val="solid"/>
          </a:ln>
        </p:spPr>
      </p:sp>
      <p:pic>
        <p:nvPicPr>
          <p:cNvPr id="15" name="Image 0" descr="/workspace/openagent/media/06-zetaris-cat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737360"/>
            <a:ext cx="5559552" cy="31272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080760" y="5138928"/>
            <a:ext cx="5559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mapping and month coverage are learned once and stored in H-MEM, so later runs skip discovery and the extra coverage scan.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SPONSOR TECH · METERLESS H-MEM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H-MEM is the agent's evidence memory, not a chat log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Agent  ·  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30352" y="1673352"/>
            <a:ext cx="3968496" cy="4287300"/>
          </a:xfrm>
          <a:prstGeom prst="rect">
            <a:avLst/>
          </a:prstGeom>
          <a:solidFill>
            <a:srgbClr val="2A3352"/>
          </a:solidFill>
          <a:ln w="6350">
            <a:solidFill>
              <a:srgbClr val="2A3352"/>
            </a:solidFill>
            <a:prstDash val="solid"/>
          </a:ln>
        </p:spPr>
      </p:sp>
      <p:pic>
        <p:nvPicPr>
          <p:cNvPr id="7" name="Image 0" descr="/workspace/slides/why-agent-deck/c04_mem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3931920" cy="42507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60155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 before planning, mem-7 written, TrustLedger events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166360" y="16916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812280" y="1691640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schema mappings, month coverage and findings with provenance zetaris:&lt;run&gt;/&lt;query&gt;.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166360" y="2240280"/>
            <a:ext cx="6473952" cy="0"/>
          </a:xfrm>
          <a:prstGeom prst="line">
            <a:avLst/>
          </a:prstGeom>
          <a:noFill/>
          <a:ln w="9525">
            <a:solidFill>
              <a:srgbClr val="2A335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166360" y="229514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query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812280" y="2295144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recall before planning; reads logged to the TrustLedger.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166360" y="2843784"/>
            <a:ext cx="6473952" cy="0"/>
          </a:xfrm>
          <a:prstGeom prst="line">
            <a:avLst/>
          </a:prstGeom>
          <a:noFill/>
          <a:ln w="9525">
            <a:solidFill>
              <a:srgbClr val="2A335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66360" y="28986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supersedes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812280" y="2898648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re-run finding links to and replaces the old one for the same question.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166360" y="3447288"/>
            <a:ext cx="6473952" cy="0"/>
          </a:xfrm>
          <a:prstGeom prst="line">
            <a:avLst/>
          </a:prstGeom>
          <a:noFill/>
          <a:ln w="9525">
            <a:solidFill>
              <a:srgbClr val="2A335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66360" y="35021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feedback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812280" y="3502152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👍 / 👎 in the UI adjusts the stored finding's confidence.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166360" y="4050792"/>
            <a:ext cx="6473952" cy="0"/>
          </a:xfrm>
          <a:prstGeom prst="line">
            <a:avLst/>
          </a:prstGeom>
          <a:noFill/>
          <a:ln w="9525">
            <a:solidFill>
              <a:srgbClr val="2A335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66360" y="410565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ledger.history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812280" y="4105656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Drives the TrustLedger viewer: create / read / supersede / feedback.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166360" y="4654296"/>
            <a:ext cx="6473952" cy="0"/>
          </a:xfrm>
          <a:prstGeom prst="line">
            <a:avLst/>
          </a:prstGeom>
          <a:noFill/>
          <a:ln w="9525">
            <a:solidFill>
              <a:srgbClr val="2A335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166360" y="4846320"/>
            <a:ext cx="6473952" cy="1371600"/>
          </a:xfrm>
          <a:prstGeom prst="roundRect">
            <a:avLst>
              <a:gd name="adj" fmla="val 5333"/>
            </a:avLst>
          </a:prstGeom>
          <a:solidFill>
            <a:srgbClr val="1A1F45"/>
          </a:solidFill>
          <a:ln w="12700">
            <a:solidFill>
              <a:srgbClr val="3B429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349240" y="489204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3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What's unique  </a:t>
            </a:r>
            <a:r>
              <a:rPr lang="en-US" sz="1250" dirty="0">
                <a:solidFill>
                  <a:srgbClr val="E6E9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is citable evidence: a second identical run adds a claim that the result matches the finding stored in H-MEM. Live and fixture memories live in separate stores, so synthetic findings can never be recalled as evidence about real data.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SPONSOR TECH · METERLESS SCOUT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Scout guard checks the question, the SQL and the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Agent  ·  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61C30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8013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· Question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21945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Injection, mode switching, secret exfiltration, out-of-band tools, privilege escalation, destructive intent: blocked before any query.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087368" y="2487168"/>
            <a:ext cx="228600" cy="0"/>
          </a:xfrm>
          <a:prstGeom prst="line">
            <a:avLst/>
          </a:prstGeom>
          <a:noFill/>
          <a:ln w="19050">
            <a:solidFill>
              <a:srgbClr val="5C6683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334256" y="16916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61C30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17136" y="18013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 · SQL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517136" y="21945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Read-only verbs, one statement, allowed databases only, no PII columns.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872984" y="2487168"/>
            <a:ext cx="228600" cy="0"/>
          </a:xfrm>
          <a:prstGeom prst="line">
            <a:avLst/>
          </a:prstGeom>
          <a:noFill/>
          <a:ln w="19050">
            <a:solidFill>
              <a:srgbClr val="5C6683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8119872" y="16916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61C30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02752" y="18013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 · Returned rows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302752" y="21945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Cells with instruction-like text are redacted before they reach the answer.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30352" y="3593592"/>
            <a:ext cx="5065776" cy="2407722"/>
          </a:xfrm>
          <a:prstGeom prst="rect">
            <a:avLst/>
          </a:prstGeom>
          <a:solidFill>
            <a:srgbClr val="2A3352"/>
          </a:solidFill>
          <a:ln w="6350">
            <a:solidFill>
              <a:srgbClr val="2A3352"/>
            </a:solidFill>
            <a:prstDash val="solid"/>
          </a:ln>
        </p:spPr>
      </p:sp>
      <p:pic>
        <p:nvPicPr>
          <p:cNvPr id="18" name="Image 0" descr="/workspace/slides/why-agent-deck/c05_block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11880"/>
            <a:ext cx="5029200" cy="237114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" y="605617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Injection attempt blocked; no query was sent to Zetaris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355080" y="3611880"/>
            <a:ext cx="52852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B93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What's unique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9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Meterless publishes Scout Intent as a spec without a reference implementation. guard.ts implements its guard stage for this agent and exposes Scout.decide(), so the official Meterless eval runner can score it.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355080" y="5029200"/>
            <a:ext cx="5285232" cy="1188720"/>
          </a:xfrm>
          <a:prstGeom prst="roundRect">
            <a:avLst>
              <a:gd name="adj" fmla="val 6154"/>
            </a:avLst>
          </a:prstGeom>
          <a:solidFill>
            <a:srgbClr val="2A2414"/>
          </a:solidFill>
          <a:ln w="12700">
            <a:solidFill>
              <a:srgbClr val="6B5A1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37960" y="5074920"/>
            <a:ext cx="4919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 result  </a:t>
            </a:r>
            <a:r>
              <a:rPr lang="en-US" sz="1250" dirty="0">
                <a:solidFill>
                  <a:srgbClr val="E6E9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1.0 / recall 1.0 on the published v1/injection set (10 examples: 7 injection, 3 clean). That set is not held out; I read it while writing the guard. Treat it as a regression check.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LIMITS &amp; FUTURE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6E9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Honest limits today, and what comes next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Agent  ·  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749040"/>
                <a:gridCol w="41422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93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LIMIT TODAY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37160" marR="137160" marT="54864" marB="54864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93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WHY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37160" marR="137160" marT="54864" marB="54864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93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NEXT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37160" marR="137160" marT="54864" marB="54864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3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6E9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Deterministic, rule-based planner (no LLM)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CFE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Fixed vocabulary: 7 metrics, period forms, 5 dimensions. No LLM key was available.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CFE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Optional LLM front-end that only fills the same typed plan; numbers still come only from rows.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2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6E9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~60–70 s per full scan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CFE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S3 CSV read dominates on a single-node local Spark driver.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CFE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Cache or materialise evidence cubes in Zetaris; columnar sources.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2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6E9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Guard evaluated on a non-held-out set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CFE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Pattern-based; 10-example public set read during development.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CFE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Held-out and adversarial evaluation; add Scout intent classification.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2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6E9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Descriptive, not causal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CFE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Explains through 5 built-in dimensions only.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9CFE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Federate external drivers through Zetaris, e.g. weather_data already in the NY_TAXI catalogue.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20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486400"/>
            <a:ext cx="11091672" cy="0"/>
          </a:xfrm>
          <a:prstGeom prst="line">
            <a:avLst/>
          </a:prstGeom>
          <a:noFill/>
          <a:ln w="12700">
            <a:solidFill>
              <a:srgbClr val="2A335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56235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  </a:t>
            </a:r>
            <a:r>
              <a:rPr lang="en-US" sz="1500" dirty="0">
                <a:solidFill>
                  <a:srgbClr val="E6E9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github.com/bradywatkinson/why-agent      </a:t>
            </a:r>
            <a:r>
              <a:rPr lang="en-US" sz="1100" dirty="0">
                <a:solidFill>
                  <a:srgbClr val="9A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 it  </a:t>
            </a:r>
            <a:r>
              <a:rPr lang="en-US" sz="1300" dirty="0">
                <a:solidFill>
                  <a:srgbClr val="E6E9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install · npm run setup · npm test · npm start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Agent — GenAI.Works Open Agent Hackathon 2026</dc:title>
  <dc:subject>PptxGenJS Presentation</dc:subject>
  <dc:creator>Ben Wat</dc:creator>
  <cp:lastModifiedBy>Ben Wat</cp:lastModifiedBy>
  <cp:revision>1</cp:revision>
  <dcterms:created xsi:type="dcterms:W3CDTF">2026-10-27T06:45:22Z</dcterms:created>
  <dcterms:modified xsi:type="dcterms:W3CDTF">2026-10-27T06:45:22Z</dcterms:modified>
</cp:coreProperties>
</file>